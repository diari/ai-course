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02E1AUeHwFt/HK4hEZqJ7i+GY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INSTRUCTOR NOTE</a:t>
            </a:r>
            <a:br>
              <a:rPr lang="en-US"/>
            </a:br>
            <a:r>
              <a:rPr lang="en-US"/>
              <a:t>This group are daily AI users. Skip all basics. Open straight into the pre-built workflow demo — no intro, no context.</a:t>
            </a:r>
            <a:br>
              <a:rPr lang="en-US"/>
            </a:br>
            <a:r>
              <a:rPr lang="en-US"/>
              <a:t>Key theme for the whole session: AUTOMATION via Claude Cowork. Every person selected automation as their top goal.</a:t>
            </a:r>
            <a:br>
              <a:rPr lang="en-US"/>
            </a:br>
            <a:r>
              <a:rPr lang="en-US"/>
              <a:t>New subtitle references Cowork explicitly — set the expectation from the title slide.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 30 seconds. Key message: everyone wants automation — it is not a closing topic, it is the spine of the whole session.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agenda overview — under 30 seconds. Say: 'Tonight is about one tool: Claude Cowork. By the end, you will understand exactly how to set it up as your personal AI system.'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SCRIPT</a:t>
            </a:r>
            <a:br>
              <a:rPr lang="en-US"/>
            </a:br>
            <a:r>
              <a:rPr lang="en-US"/>
              <a:t>Open Cowork. Drop in messy meeting notes. Show the output: a clean summary, bullet-point action items, and a draft follow-up email.</a:t>
            </a:r>
            <a:br>
              <a:rPr lang="en-US"/>
            </a:br>
            <a:br>
              <a:rPr lang="en-US"/>
            </a:br>
            <a:r>
              <a:rPr lang="en-US"/>
              <a:t>Say: 'I set this up once. Now it runs every time I need it. Tonight you will build something like this.'</a:t>
            </a:r>
            <a:br>
              <a:rPr lang="en-US"/>
            </a:br>
            <a:br>
              <a:rPr lang="en-US"/>
            </a:br>
            <a:r>
              <a:rPr lang="en-US"/>
              <a:t>Do not explain HOW it works yet — just let the result land first.</a:t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the session: 'Most of you are at Level 2 or 3. Tonight we go straight to Level 4 — Claude Cowork. It gives you everything from Levels 2 and 3 built in, plus autonomous execution.'</a:t>
            </a:r>
            <a:br>
              <a:rPr lang="en-US"/>
            </a:br>
            <a:br>
              <a:rPr lang="en-US"/>
            </a:br>
            <a:r>
              <a:rPr lang="en-US"/>
              <a:t>Key message: Cowork is the fastest path from individual prompts to a full AI system.</a:t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distinction: 'Chat is prompt-response. Cowork is task delegation. You describe an outcome, step away, and come back to completed work.'</a:t>
            </a:r>
            <a:br>
              <a:rPr lang="en-US"/>
            </a:br>
            <a:br>
              <a:rPr lang="en-US"/>
            </a:br>
            <a:r>
              <a:rPr lang="en-US"/>
              <a:t>For this group: 'You all use Chat daily. Cowork is what happens when you stop talking TO AI and start delegating TO AI.'</a:t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SCRIPT</a:t>
            </a:r>
            <a:br>
              <a:rPr lang="en-US"/>
            </a:br>
            <a:r>
              <a:rPr lang="en-US"/>
              <a:t>Without context: 'Write a project update for stakeholders.' → generic, corporate filler.</a:t>
            </a:r>
            <a:br>
              <a:rPr lang="en-US"/>
            </a:br>
            <a:r>
              <a:rPr lang="en-US"/>
              <a:t>With context files loaded: same prompt → output in YOUR voice, for YOUR stakeholders, in YOUR preferred format.</a:t>
            </a:r>
            <a:br>
              <a:rPr lang="en-US"/>
            </a:br>
            <a:br>
              <a:rPr lang="en-US"/>
            </a:br>
            <a:r>
              <a:rPr lang="en-US"/>
              <a:t>Say: 'I spent 10 minutes writing these files once. Every single interaction since then has been shaped by them. This is the highest-leverage 10 minutes you will spend.'</a:t>
            </a:r>
            <a:br>
              <a:rPr lang="en-US"/>
            </a:br>
            <a:br>
              <a:rPr lang="en-US"/>
            </a:br>
            <a:r>
              <a:rPr lang="en-US"/>
              <a:t>The compounding effect: 'Every time Claude misses the mark, you add one line to one file. Permanent fix.'</a:t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SCRIPT</a:t>
            </a:r>
            <a:br>
              <a:rPr lang="en-US"/>
            </a:br>
            <a:r>
              <a:rPr lang="en-US"/>
              <a:t>Open Claude. Have a sample meeting transcript ready. Prompt: 'Summarise these meeting notes with decisions, action items, and next steps.'</a:t>
            </a:r>
            <a:br>
              <a:rPr lang="en-US"/>
            </a:br>
            <a:br>
              <a:rPr lang="en-US"/>
            </a:br>
            <a:r>
              <a:rPr lang="en-US"/>
              <a:t>Correct the output once. Then say: 'Turn this into a skill.'</a:t>
            </a:r>
            <a:br>
              <a:rPr lang="en-US"/>
            </a:br>
            <a:br>
              <a:rPr lang="en-US"/>
            </a:br>
            <a:r>
              <a:rPr lang="en-US"/>
              <a:t>Show the SKILL.md that gets generated. Point out the frontmatter, instruction body, and how it will auto-trigger next time.</a:t>
            </a:r>
            <a:br>
              <a:rPr lang="en-US"/>
            </a:br>
            <a:br>
              <a:rPr lang="en-US"/>
            </a:br>
            <a:r>
              <a:rPr lang="en-US"/>
              <a:t>Key message: 'Many small, focused skills compose better than one giant skill. Let Claude handle the orchestration.'</a:t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OPTIONS (pick one based on time):</a:t>
            </a:r>
            <a:br>
              <a:rPr lang="en-US"/>
            </a:br>
            <a:br>
              <a:rPr lang="en-US"/>
            </a:br>
            <a:r>
              <a:rPr lang="en-US"/>
              <a:t>1. Scheduled task: Open Cowork → /schedule → create a Monday briefing that pulls from Slack and Calendar. Show the cron setup and the output from a previous run.</a:t>
            </a:r>
            <a:br>
              <a:rPr lang="en-US"/>
            </a:br>
            <a:br>
              <a:rPr lang="en-US"/>
            </a:br>
            <a:r>
              <a:rPr lang="en-US"/>
              <a:t>2. Connector: Show connecting Slack in Settings → Connectors. Then ask Cowork to summarise a Slack channel — show how it pulls live data.</a:t>
            </a:r>
            <a:br>
              <a:rPr lang="en-US"/>
            </a:br>
            <a:br>
              <a:rPr lang="en-US"/>
            </a:br>
            <a:r>
              <a:rPr lang="en-US"/>
              <a:t>3. Plugin: Show installing the Productivity plugin. Run /productivity:start. Show how it reviews your day.</a:t>
            </a:r>
            <a:br>
              <a:rPr lang="en-US"/>
            </a:br>
            <a:br>
              <a:rPr lang="en-US"/>
            </a:br>
            <a:r>
              <a:rPr lang="en-US"/>
              <a:t>Critical limitation to mention: 'Scheduled tasks only run while your computer is awake and Claude Desktop is open.'</a:t>
            </a:r>
            <a:endParaRPr/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SHOWCASE MOMENT — 12 minutes of pure live demo.</a:t>
            </a:r>
            <a:br>
              <a:rPr lang="en-US"/>
            </a:br>
            <a:br>
              <a:rPr lang="en-US"/>
            </a:br>
            <a:r>
              <a:rPr lang="en-US"/>
              <a:t>Pre-load a folder with 10-15 pieces of customer feedback (emails, survey responses, support tickets). Open Cowork, select the folder.</a:t>
            </a:r>
            <a:br>
              <a:rPr lang="en-US"/>
            </a:br>
            <a:br>
              <a:rPr lang="en-US"/>
            </a:br>
            <a:r>
              <a:rPr lang="en-US"/>
              <a:t>Prompt: 'Analyse all customer feedback in this folder. Identify the top themes by frequency, give examples for each, and produce a stakeholder-ready .docx report with an executive summary.'</a:t>
            </a:r>
            <a:br>
              <a:rPr lang="en-US"/>
            </a:br>
            <a:br>
              <a:rPr lang="en-US"/>
            </a:br>
            <a:r>
              <a:rPr lang="en-US"/>
              <a:t>Let Cowork:</a:t>
            </a:r>
            <a:br>
              <a:rPr lang="en-US"/>
            </a:br>
            <a:r>
              <a:rPr lang="en-US"/>
              <a:t>1. Ask clarifying questions (show this)</a:t>
            </a:r>
            <a:br>
              <a:rPr lang="en-US"/>
            </a:br>
            <a:r>
              <a:rPr lang="en-US"/>
              <a:t>2. Show its plan (approve it)</a:t>
            </a:r>
            <a:br>
              <a:rPr lang="en-US"/>
            </a:br>
            <a:r>
              <a:rPr lang="en-US"/>
              <a:t>3. Spin up subagents (point out the parallel work)</a:t>
            </a:r>
            <a:br>
              <a:rPr lang="en-US"/>
            </a:br>
            <a:r>
              <a:rPr lang="en-US"/>
              <a:t>4. Deliver the .docx</a:t>
            </a:r>
            <a:br>
              <a:rPr lang="en-US"/>
            </a:br>
            <a:br>
              <a:rPr lang="en-US"/>
            </a:br>
            <a:r>
              <a:rPr lang="en-US"/>
              <a:t>Deliberately let one thing go wrong — maybe the format is off or a theme is miscategorized. Correct it: 'Theme 3 is wrong — that feedback is about onboarding, not pricing. Redo that section.' Show the correction.</a:t>
            </a:r>
            <a:br>
              <a:rPr lang="en-US"/>
            </a:br>
            <a:br>
              <a:rPr lang="en-US"/>
            </a:br>
            <a:r>
              <a:rPr lang="en-US"/>
              <a:t>Close with: 'That was one prompt. One sentence. A complete research synthesis pipeline in under 5 minutes.'</a:t>
            </a:r>
            <a:br>
              <a:rPr lang="en-US"/>
            </a:br>
            <a:br>
              <a:rPr lang="en-US"/>
            </a:br>
            <a:r>
              <a:rPr lang="en-US"/>
              <a:t>For PMs: 'This replaces the 3-hour Friday afternoon you spend compiling feedback reports.'</a:t>
            </a:r>
            <a:endParaRPr/>
          </a:p>
        </p:txBody>
      </p:sp>
      <p:sp>
        <p:nvSpPr>
          <p:cNvPr id="283" name="Google Shape;2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message: 'ChatGPT rewarded prompt engineering — writing the cleverest prompts. Cowork rewards system engineering — investing in setup so your prompts can be short.'</a:t>
            </a:r>
            <a:br>
              <a:rPr lang="en-US"/>
            </a:br>
            <a:br>
              <a:rPr lang="en-US"/>
            </a:br>
            <a:r>
              <a:rPr lang="en-US"/>
              <a:t>Pause on the timeline. Say: 'Today takes 30 minutes. That is all. The rest compounds.'</a:t>
            </a:r>
            <a:br>
              <a:rPr lang="en-US"/>
            </a:br>
            <a:br>
              <a:rPr lang="en-US"/>
            </a:br>
            <a:r>
              <a:rPr lang="en-US"/>
              <a:t>For the ongoing phase: 'Every time Claude produces something you don't like, ask whether it's a prompt problem or a context problem. Nine times out of ten, it's context. Add one line to one file. Permanent fix.'</a:t>
            </a:r>
            <a:endParaRPr/>
          </a:p>
        </p:txBody>
      </p:sp>
      <p:sp>
        <p:nvSpPr>
          <p:cNvPr id="313" name="Google Shape;3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line (read it out): 'The people who win with AI are not the ones who know the most tools. They are the ones who have built the best systems. You have yours now.'</a:t>
            </a:r>
            <a:br>
              <a:rPr lang="en-US"/>
            </a:br>
            <a:br>
              <a:rPr lang="en-US"/>
            </a:br>
            <a:r>
              <a:rPr lang="en-US"/>
              <a:t>Challenge walkthrough: 'Step 1 takes 5 minutes. Step 2 takes 10 minutes. Step 3 takes 30 seconds. Step 4 is where the magic happens. The whole thing is under 30 minutes.'</a:t>
            </a:r>
            <a:br>
              <a:rPr lang="en-US"/>
            </a:br>
            <a:br>
              <a:rPr lang="en-US"/>
            </a:br>
            <a:r>
              <a:rPr lang="en-US"/>
              <a:t>If there is interest in a follow-up: mention a potential paid offering — cohort, 1-on-1 coaching, or team workshop.</a:t>
            </a:r>
            <a:endParaRPr/>
          </a:p>
        </p:txBody>
      </p:sp>
      <p:sp>
        <p:nvSpPr>
          <p:cNvPr id="339" name="Google Shape;3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114800"/>
            <a:ext cx="3840480" cy="10287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502920"/>
            <a:ext cx="2377440" cy="329184"/>
          </a:xfrm>
          <a:prstGeom prst="roundRect">
            <a:avLst>
              <a:gd fmla="val 16667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48463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ADVANCED  ·  SESSION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96012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Your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System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45643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From one-off prompts to autonomous task execution with Claude Cowork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040" y="422452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60 minutes  ·  Advanced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457200"/>
            <a:ext cx="64008" cy="46863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02920" y="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ABOUT THIS GROUP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59436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Who </a:t>
            </a:r>
            <a:r>
              <a:rPr b="1" lang="en-US" sz="3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 mad</a:t>
            </a:r>
            <a:r>
              <a:rPr b="1" lang="en-US" sz="3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 this course for</a:t>
            </a:r>
            <a:r>
              <a:rPr b="1" lang="en-US" sz="3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1463040"/>
            <a:ext cx="2560320" cy="2331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463040"/>
            <a:ext cx="2560320" cy="9144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2468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Responses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8803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Mostly PMs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Ops, Analyst,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Founder, Engineer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91840" y="1463040"/>
            <a:ext cx="2560320" cy="2331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91840" y="1463040"/>
            <a:ext cx="2560320" cy="9144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5200"/>
              <a:buFont typeface="Calibri"/>
              <a:buNone/>
            </a:pPr>
            <a:r>
              <a:rPr b="1" i="0" lang="en-US" sz="4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6/8 &amp; 6/7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91840" y="2468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Daily/Weekly AI Users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91840" y="28803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weekly — they'll keep up fine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126480" y="1463040"/>
            <a:ext cx="2560320" cy="2331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b="1" i="0" lang="en-US" sz="5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n-US" sz="52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26480" y="2468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Want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26480" y="28803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100% — the session spine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4023360"/>
            <a:ext cx="8412480" cy="822960"/>
          </a:xfrm>
          <a:prstGeom prst="rect">
            <a:avLst/>
          </a:prstGeom>
          <a:solidFill>
            <a:srgbClr val="FFF8E6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0080" y="406908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4F0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D4F00"/>
                </a:solidFill>
                <a:latin typeface="Calibri"/>
                <a:ea typeface="Calibri"/>
                <a:cs typeface="Calibri"/>
                <a:sym typeface="Calibri"/>
              </a:rPr>
              <a:t>I am </a:t>
            </a:r>
            <a:r>
              <a:rPr lang="en-US" sz="1200">
                <a:solidFill>
                  <a:srgbClr val="7D4F00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r>
              <a:rPr lang="en-US" sz="1200">
                <a:solidFill>
                  <a:srgbClr val="7D4F00"/>
                </a:solidFill>
                <a:latin typeface="Calibri"/>
                <a:ea typeface="Calibri"/>
                <a:cs typeface="Calibri"/>
                <a:sym typeface="Calibri"/>
              </a:rPr>
              <a:t> 3 sessions for 2 levels (Intermediate and Advanced)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457200"/>
            <a:ext cx="64008" cy="46863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02920" y="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TONIGHT'S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59436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60 Minutes — Here's What We'll Build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1298448"/>
            <a:ext cx="1234440" cy="347472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129844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0–5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874520" y="1316736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965960" y="131673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Opening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389120" y="1316736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tool to system — pre-built workflow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1737360"/>
            <a:ext cx="1234440" cy="347472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17373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5–10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874520" y="1755648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965960" y="1755648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Automation Levels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389120" y="175564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4 levels · Tonight we focus on Level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2176272"/>
            <a:ext cx="1234440" cy="347472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7200" y="2176272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10–15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874520" y="2194560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965960" y="219456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Is Cowork?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389120" y="2194560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Chat vs Code vs Cowork — why this changes everything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2615184"/>
            <a:ext cx="1234440" cy="347472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57200" y="26151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15–22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874520" y="2633472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965960" y="263347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Context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389120" y="2633472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3 files that make AI remember you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3054096"/>
            <a:ext cx="1234440" cy="347472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57200" y="3054096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22–30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874520" y="3072384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965960" y="307238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389120" y="307238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Teach AI new capabilities with a single Markdown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3493008"/>
            <a:ext cx="1234440" cy="347472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57200" y="3493008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30–38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874520" y="3511296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1965960" y="351129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Plugins &amp; Connectors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89120" y="3511296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Pre-built bundles + live integrations + scheduled 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3931920"/>
            <a:ext cx="1234440" cy="347472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57200" y="39319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38–50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874520" y="3950208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965960" y="3950208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389120" y="395020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End-to-end Cowork workflow — the showcase moment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57200" y="4370832"/>
            <a:ext cx="1234440" cy="34747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57200" y="4370832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50–60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874520" y="4389120"/>
            <a:ext cx="23774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965960" y="438912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Mindset Shift + Close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389120" y="4389120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Implementation timeline + your challenge for this 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0:00 – 0:05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OPENING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658368"/>
            <a:ext cx="53035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You've been using AI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a tool.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Tonight we turn 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into a system.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217920" y="594360"/>
            <a:ext cx="2697480" cy="1463040"/>
          </a:xfrm>
          <a:prstGeom prst="rect">
            <a:avLst/>
          </a:prstGeom>
          <a:solidFill>
            <a:srgbClr val="1E2F6B">
              <a:alpha val="30196"/>
            </a:srgbClr>
          </a:solidFill>
          <a:ln cap="flat" cmpd="sng" w="9525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355080" y="658368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"Let me try a prompt and see what happens"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217920" y="2240280"/>
            <a:ext cx="2697480" cy="1463040"/>
          </a:xfrm>
          <a:prstGeom prst="rect">
            <a:avLst/>
          </a:prstGeom>
          <a:solidFill>
            <a:srgbClr val="E8B84B">
              <a:alpha val="25098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355080" y="2304288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"My AI system handles this — here's the output."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457200"/>
            <a:ext cx="64008" cy="46863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02920" y="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AUTOMATION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7200" y="59436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The 4 Levels — Tonight We Focus on Level 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0:05 – 0:10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20040" y="1417320"/>
            <a:ext cx="1920240" cy="333756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20040" y="1417320"/>
            <a:ext cx="1920240" cy="4572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32004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11480" y="19659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Better Prompts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11480" y="2496312"/>
            <a:ext cx="17373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Manual, one-off prompts.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You craft each from scratch.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468880" y="1417320"/>
            <a:ext cx="1920240" cy="3337560"/>
          </a:xfrm>
          <a:prstGeom prst="rect">
            <a:avLst/>
          </a:prstGeom>
          <a:solidFill>
            <a:srgbClr val="EBF8FF"/>
          </a:solidFill>
          <a:ln cap="flat" cmpd="sng" w="9525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2468880" y="1417320"/>
            <a:ext cx="1920240" cy="457200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246888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560320" y="19659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Reusable Templates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560320" y="2496312"/>
            <a:ext cx="17373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Prompt templates for common tasks.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 them in seconds.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617720" y="1417320"/>
            <a:ext cx="1920240" cy="3337560"/>
          </a:xfrm>
          <a:prstGeom prst="rect">
            <a:avLst/>
          </a:prstGeom>
          <a:solidFill>
            <a:srgbClr val="E8EE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617720" y="1417320"/>
            <a:ext cx="1920240" cy="457200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61772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709160" y="19659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Connected Workflows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709160" y="2496312"/>
            <a:ext cx="17373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Zapier, Make — AI runs automatically when triggered.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766560" y="1417320"/>
            <a:ext cx="1920240" cy="3337560"/>
          </a:xfrm>
          <a:prstGeom prst="rect">
            <a:avLst/>
          </a:prstGeom>
          <a:solidFill>
            <a:srgbClr val="FFF8E6"/>
          </a:solidFill>
          <a:ln cap="flat" cmpd="sng" w="317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6766560" y="1417320"/>
            <a:ext cx="1920240" cy="4572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766560" y="1417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858000" y="19659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Claude Cowork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858000" y="2496312"/>
            <a:ext cx="17373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Autonomous task execution.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File access, subagents,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skills, scheduled tasks.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995160" y="4389120"/>
            <a:ext cx="1463040" cy="256032"/>
          </a:xfrm>
          <a:prstGeom prst="roundRect">
            <a:avLst>
              <a:gd fmla="val 17857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995160" y="437083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Tonight's Focus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457200"/>
            <a:ext cx="64008" cy="4686300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02920" y="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INTRODUCING COWORK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59436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Three Modes of Claude — One Changes Everything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0:10 – 0:15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1417320"/>
            <a:ext cx="2560320" cy="2286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4360" y="1901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94360" y="219456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Prompt → Response.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You ask, Claude answers.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You're always in the loop.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291840" y="1417320"/>
            <a:ext cx="2560320" cy="2286000"/>
          </a:xfrm>
          <a:prstGeom prst="rect">
            <a:avLst/>
          </a:prstGeom>
          <a:solidFill>
            <a:srgbClr val="EBF8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429000" y="1901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58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558A0"/>
                </a:solidFill>
                <a:latin typeface="Calibri"/>
                <a:ea typeface="Calibri"/>
                <a:cs typeface="Calibri"/>
                <a:sym typeface="Calibri"/>
              </a:rPr>
              <a:t>Developers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429000" y="219456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Terminal-based agent.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Writes code, runs commands,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manages git repos.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126480" y="1417320"/>
            <a:ext cx="2560320" cy="2286000"/>
          </a:xfrm>
          <a:prstGeom prst="rect">
            <a:avLst/>
          </a:prstGeom>
          <a:solidFill>
            <a:srgbClr val="FFF8E6"/>
          </a:solidFill>
          <a:ln cap="flat" cmpd="sng" w="254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263640" y="1901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Knowledge Workers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263640" y="219456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Task delegation.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You describe an outcome,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step away, come 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 completed 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" y="3840480"/>
            <a:ext cx="8412480" cy="1828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57200" y="409651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File read/write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560320" y="409651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Professional outputs (PPTX, XLSX, DOCX)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663440" y="409651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Subagent coordination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766560" y="4096512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Scheduled 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0" y="457200"/>
            <a:ext cx="64008" cy="4686300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02920" y="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CONTEXT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59436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28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8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 Files That Make AI Remember You</a:t>
            </a:r>
            <a:r>
              <a:rPr b="1" lang="en-US" sz="2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 &amp; Your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0:15 – 0:22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1417320"/>
            <a:ext cx="39776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58368" y="146304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about-me.md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58368" y="182880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Role, responsibilities, domain, example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2333851"/>
            <a:ext cx="39777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57200" y="2333851"/>
            <a:ext cx="63900" cy="822900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58368" y="2379571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brand-voice.md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58368" y="2745331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Tone, vocabulary, anti-patterns, writing 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57200" y="3272177"/>
            <a:ext cx="39777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57200" y="3272177"/>
            <a:ext cx="63900" cy="8229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58368" y="3317897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working-preferences.md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58368" y="3683657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Process rules, output format, guardrails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709150" y="1417325"/>
            <a:ext cx="4160400" cy="33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846320" y="1463040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Four</a:t>
            </a: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-Layer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846320" y="1828800"/>
            <a:ext cx="3886200" cy="621792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983480" y="186537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Layer 1: Global Instructions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983480" y="213969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Universal behaviour. Loads every session.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846320" y="2542032"/>
            <a:ext cx="3886200" cy="621792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983480" y="257860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58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558A0"/>
                </a:solidFill>
                <a:latin typeface="Calibri"/>
                <a:ea typeface="Calibri"/>
                <a:cs typeface="Calibri"/>
                <a:sym typeface="Calibri"/>
              </a:rPr>
              <a:t>Layer 2: Folder Instructions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983480" y="28529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Project-specific context. Per folder.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846320" y="3255264"/>
            <a:ext cx="3886200" cy="621792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983480" y="329184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Layer 3: Your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983480" y="35661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task itself. 10 words — layers 1-2 carry the rest.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57175" y="4230985"/>
            <a:ext cx="3977700" cy="82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57175" y="4230985"/>
            <a:ext cx="63900" cy="822900"/>
          </a:xfrm>
          <a:prstGeom prst="rect">
            <a:avLst/>
          </a:prstGeom>
          <a:solidFill>
            <a:srgbClr val="F4CCCC"/>
          </a:solidFill>
          <a:ln cap="flat" cmpd="sng" w="127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658343" y="4276705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.md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58343" y="4642465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Summarise and write session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output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next 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828095" y="4023364"/>
            <a:ext cx="3886200" cy="6219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965255" y="4059940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Layer </a:t>
            </a:r>
            <a:r>
              <a:rPr b="1" lang="en-US" sz="11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: Your </a:t>
            </a:r>
            <a:r>
              <a:rPr b="1" lang="en-US" sz="11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Session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965255" y="4334260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Previous session history per folder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0" y="457200"/>
            <a:ext cx="64008" cy="4686300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02920" y="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59436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Teach AI New Capabilities — No Code Required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0:22 – 0:30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1417320"/>
            <a:ext cx="397764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94360" y="1481328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Is a Skill?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94360" y="1828800"/>
            <a:ext cx="3703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folder with a SKILL.md file — a Markdown document with instructions. No code. No API. No server.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If you can write documentation, you can build a skill.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709160" y="1417320"/>
            <a:ext cx="4160520" cy="1737360"/>
          </a:xfrm>
          <a:prstGeom prst="rect">
            <a:avLst/>
          </a:prstGeom>
          <a:solidFill>
            <a:srgbClr val="E8EE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846320" y="1481328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Progressive Disclosure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46320" y="190195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L1  Frontmatter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Name + description. Always loaded (~50 tokens)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46320" y="226771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L2  Markdown body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Full instructions. Only when relevant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846320" y="263347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L3  Supporting files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Templates, examples. Only when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57200" y="3291840"/>
            <a:ext cx="8412480" cy="73152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57200" y="34290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7 High-Impact Skills to Build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57200" y="3767328"/>
            <a:ext cx="1097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57200" y="37673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Brand voice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664208" y="3767328"/>
            <a:ext cx="1097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1664208" y="37673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Output standards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871216" y="3767328"/>
            <a:ext cx="1097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2871216" y="37673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Meeting notes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078224" y="3767328"/>
            <a:ext cx="1097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4078224" y="37673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Weekly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285232" y="3767328"/>
            <a:ext cx="1097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285232" y="37673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Expense 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492240" y="3767328"/>
            <a:ext cx="1097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6492240" y="37673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Research synthesis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7699248" y="3767328"/>
            <a:ext cx="1097280" cy="2926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699248" y="376732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F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F6B"/>
                </a:solidFill>
                <a:latin typeface="Calibri"/>
                <a:ea typeface="Calibri"/>
                <a:cs typeface="Calibri"/>
                <a:sym typeface="Calibri"/>
              </a:rPr>
              <a:t>Client comms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0" y="457200"/>
            <a:ext cx="64008" cy="46863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502920" y="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THE ECOSYSTEM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57200" y="59436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Plugins, Connectors, and Scheduled Tasks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0:30 – 0:38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57200" y="1417320"/>
            <a:ext cx="2560320" cy="3246120"/>
          </a:xfrm>
          <a:prstGeom prst="rect">
            <a:avLst/>
          </a:prstGeom>
          <a:solidFill>
            <a:srgbClr val="E8EEFF"/>
          </a:solidFill>
          <a:ln cap="flat" cmpd="sng" w="9525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Plugins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66928" y="1920240"/>
            <a:ext cx="23408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Pre-built specialist packs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that bundle skills, commands,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and sub-agents for your role.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9"/>
          <p:cNvCxnSpPr/>
          <p:nvPr/>
        </p:nvCxnSpPr>
        <p:spPr>
          <a:xfrm>
            <a:off x="566928" y="3063240"/>
            <a:ext cx="2340864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9"/>
          <p:cNvSpPr/>
          <p:nvPr/>
        </p:nvSpPr>
        <p:spPr>
          <a:xfrm>
            <a:off x="566928" y="3154680"/>
            <a:ext cx="23408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Productivity, Sales, Marketing,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Analysis, PM, Finance,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Design, 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291840" y="1417320"/>
            <a:ext cx="2560320" cy="3246120"/>
          </a:xfrm>
          <a:prstGeom prst="rect">
            <a:avLst/>
          </a:prstGeom>
          <a:solidFill>
            <a:srgbClr val="E6F7F9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401568" y="1920240"/>
            <a:ext cx="23408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Live integrations with 50+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tools via MCP. Connect once,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Claude accesses live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9"/>
          <p:cNvCxnSpPr/>
          <p:nvPr/>
        </p:nvCxnSpPr>
        <p:spPr>
          <a:xfrm>
            <a:off x="3401568" y="3063240"/>
            <a:ext cx="2340864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9"/>
          <p:cNvSpPr/>
          <p:nvPr/>
        </p:nvSpPr>
        <p:spPr>
          <a:xfrm>
            <a:off x="3401568" y="3154680"/>
            <a:ext cx="23408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Slack, Google Drive, Notion,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Gmail, Jira, Linear, Figma,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Amplitude, HubSpot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126480" y="1417320"/>
            <a:ext cx="2560320" cy="3246120"/>
          </a:xfrm>
          <a:prstGeom prst="rect">
            <a:avLst/>
          </a:prstGeom>
          <a:solidFill>
            <a:srgbClr val="FFF8E6"/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Scheduled Tasks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236208" y="1920240"/>
            <a:ext cx="23408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Recurring automation that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runs on a cadence you 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Same power as a full session.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9"/>
          <p:cNvCxnSpPr/>
          <p:nvPr/>
        </p:nvCxnSpPr>
        <p:spPr>
          <a:xfrm>
            <a:off x="6236208" y="3063240"/>
            <a:ext cx="2340864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9"/>
          <p:cNvSpPr/>
          <p:nvPr/>
        </p:nvSpPr>
        <p:spPr>
          <a:xfrm>
            <a:off x="6236208" y="3154680"/>
            <a:ext cx="234086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Monday briefing, Friday report,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Daily competitor tracking,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Morning email triage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0:38 – 0:50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57200" y="25603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End-to-End: From Task Description to Deliverable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"Analyse this folder of customer feedback and produce a stakeholder-ready report."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7200" y="1856232"/>
            <a:ext cx="393192" cy="39319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457200" y="1828800"/>
            <a:ext cx="3931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051560" y="181965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Describe the outcome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611880" y="1792224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One sentence: what 'done' looks like. Cowork asks clarifying questions before starting.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0"/>
          <p:cNvCxnSpPr/>
          <p:nvPr/>
        </p:nvCxnSpPr>
        <p:spPr>
          <a:xfrm>
            <a:off x="653796" y="224942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0"/>
          <p:cNvSpPr/>
          <p:nvPr/>
        </p:nvSpPr>
        <p:spPr>
          <a:xfrm>
            <a:off x="457200" y="2560320"/>
            <a:ext cx="393192" cy="39319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57200" y="2532888"/>
            <a:ext cx="3931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051560" y="2523744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Cowork plans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611880" y="2496312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Claude reads your files, shows a plan, breaks work into subtasks. You approve or adjust.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0"/>
          <p:cNvCxnSpPr/>
          <p:nvPr/>
        </p:nvCxnSpPr>
        <p:spPr>
          <a:xfrm>
            <a:off x="653796" y="2953512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0"/>
          <p:cNvSpPr/>
          <p:nvPr/>
        </p:nvSpPr>
        <p:spPr>
          <a:xfrm>
            <a:off x="457200" y="3264408"/>
            <a:ext cx="393192" cy="39319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457200" y="3236976"/>
            <a:ext cx="3931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1051560" y="322783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Subagents execute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611880" y="320040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Parallel workstreams: one analyses themes, one builds the spreadsheet, one drafts the narrative.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0"/>
          <p:cNvCxnSpPr/>
          <p:nvPr/>
        </p:nvCxnSpPr>
        <p:spPr>
          <a:xfrm>
            <a:off x="653796" y="3657600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0"/>
          <p:cNvSpPr/>
          <p:nvPr/>
        </p:nvSpPr>
        <p:spPr>
          <a:xfrm>
            <a:off x="457200" y="3968496"/>
            <a:ext cx="393192" cy="39319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457200" y="3941064"/>
            <a:ext cx="3931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051560" y="3931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 appears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3611880" y="3904488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Formatted .docx report lands in your folder. No copy-pasting. No reformatting. Done.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37160" y="4709160"/>
            <a:ext cx="8869680" cy="32004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0:50 – 0:55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57200" y="25603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THE MINDSET SHIFT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→ System Engineering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57200" y="1417320"/>
            <a:ext cx="3931920" cy="1417320"/>
          </a:xfrm>
          <a:prstGeom prst="rect">
            <a:avLst/>
          </a:prstGeom>
          <a:solidFill>
            <a:srgbClr val="1E2F6B">
              <a:alpha val="30196"/>
            </a:srgbClr>
          </a:solidFill>
          <a:ln cap="flat" cmpd="sng" w="9525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594360" y="1481328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prompt is the least important part of a Cowork session.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context, the structure, the skills, and the constraints you've built around it — that's where output quality comes from.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709160" y="141732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Your Implementation 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709160" y="1874520"/>
            <a:ext cx="1051560" cy="54864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709160" y="1874520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852160" y="1892808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Create 3 context files.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Set Global Instructions.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Run the verification prompt.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709160" y="2532888"/>
            <a:ext cx="1051560" cy="548640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4709160" y="2532888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852160" y="2551176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Install 2-3 plugins.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Connect your main tool.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Set up one scheduled task.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709160" y="3191256"/>
            <a:ext cx="1051560" cy="548640"/>
          </a:xfrm>
          <a:prstGeom prst="rect">
            <a:avLst/>
          </a:prstGeom>
          <a:solidFill>
            <a:srgbClr val="1E2F6B"/>
          </a:solidFill>
          <a:ln cap="flat" cmpd="sng" w="12700">
            <a:solidFill>
              <a:srgbClr val="1E2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4709160" y="3191256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852160" y="3209544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Build your first custom skill.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Experiment with subagents.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Refine context from output.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709160" y="3849624"/>
            <a:ext cx="1051560" cy="548640"/>
          </a:xfrm>
          <a:prstGeom prst="rect">
            <a:avLst/>
          </a:prstGeom>
          <a:solidFill>
            <a:srgbClr val="3558A0"/>
          </a:solidFill>
          <a:ln cap="flat" cmpd="sng" w="12700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709160" y="3849624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852160" y="3867912"/>
            <a:ext cx="3017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Every miss → update one file.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2F5"/>
                </a:solidFill>
                <a:latin typeface="Calibri"/>
                <a:ea typeface="Calibri"/>
                <a:cs typeface="Calibri"/>
                <a:sym typeface="Calibri"/>
              </a:rPr>
              <a:t>System improves every week.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57200" y="4617720"/>
            <a:ext cx="8412480" cy="384048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94360" y="4636008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The people thriving with Cowork built their system once — and now write 10-word prompts that produce client-ready 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"/>
          <p:cNvSpPr/>
          <p:nvPr/>
        </p:nvSpPr>
        <p:spPr>
          <a:xfrm>
            <a:off x="7498080" y="137160"/>
            <a:ext cx="1463040" cy="301752"/>
          </a:xfrm>
          <a:prstGeom prst="roundRect">
            <a:avLst>
              <a:gd fmla="val 18182" name="adj"/>
            </a:avLst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7498080" y="118872"/>
            <a:ext cx="1463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~1:00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CLOSING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Context File Challenge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57200" y="1371600"/>
            <a:ext cx="8503800" cy="2880300"/>
          </a:xfrm>
          <a:prstGeom prst="rect">
            <a:avLst/>
          </a:prstGeom>
          <a:solidFill>
            <a:srgbClr val="E8B84B">
              <a:alpha val="18039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594360" y="14630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Your Challenge This Week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93419" y="1874518"/>
            <a:ext cx="8031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Install Claude Desktop + enable Cowork.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Create your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context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(about-me, brand-voice, working-prefs, session-logs).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Run the verification prompt: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"Tell me what you know about me."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Give Cowork your first real task.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137160" y="4389120"/>
            <a:ext cx="8869680" cy="594360"/>
          </a:xfrm>
          <a:prstGeom prst="rect">
            <a:avLst/>
          </a:prstGeom>
          <a:solidFill>
            <a:srgbClr val="FFFFFF">
              <a:alpha val="87843"/>
            </a:srgbClr>
          </a:solidFill>
          <a:ln cap="flat" cmpd="sng" w="9525">
            <a:solidFill>
              <a:srgbClr val="355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"The people who win with AI are not the ones who know the most tools. They are the ones who have built the best systems. You have yours now."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2026-03-03T09:18:46Z</dcterms:created>
  <dc:creator>Diari Shareef</dc:creator>
</cp:coreProperties>
</file>